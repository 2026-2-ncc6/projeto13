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60" y="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162" y="2262187"/>
            <a:ext cx="3495675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643187"/>
            <a:ext cx="900112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pt-BR" sz="4200" b="1" i="0" u="none" dirty="0">
                <a:solidFill>
                  <a:srgbClr val="FFFFFF"/>
                </a:solidFill>
                <a:latin typeface="Poppins"/>
              </a:rPr>
              <a:t>Score </a:t>
            </a:r>
            <a:r>
              <a:rPr lang="pt-BR" sz="4200" b="1" dirty="0" err="1">
                <a:solidFill>
                  <a:srgbClr val="00B4D8"/>
                </a:solidFill>
                <a:latin typeface="Poppins"/>
              </a:rPr>
              <a:t>Smash</a:t>
            </a:r>
            <a:endParaRPr lang="pt-BR" sz="4200" b="1" i="0" u="none" dirty="0">
              <a:solidFill>
                <a:srgbClr val="00B4D8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9750" y="3447008"/>
            <a:ext cx="85725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90E0EF"/>
                </a:solidFill>
                <a:latin typeface="Lato"/>
              </a:rPr>
              <a:t>Análise de Oportunidade, Design Thinking &amp; Viabilidade Econômica de Treinos Gamificados com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414688"/>
            <a:ext cx="8572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778DA9"/>
                </a:solidFill>
                <a:latin typeface="Lato"/>
              </a:rPr>
              <a:t>CIÊNCIA DA COMPUTAÇÃO | INOVAÇÃO E EMPREENDEDORISMO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95437" y="2136652"/>
            <a:ext cx="9001125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pt-BR" sz="4200" b="1" dirty="0">
                <a:solidFill>
                  <a:srgbClr val="FFFFFF"/>
                </a:solidFill>
                <a:latin typeface="Poppins"/>
              </a:rPr>
              <a:t>Integrantes:</a:t>
            </a:r>
            <a:endParaRPr lang="pt-BR" sz="4200" b="1" i="0" u="none" dirty="0">
              <a:solidFill>
                <a:srgbClr val="00B4D8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9750" y="3406503"/>
            <a:ext cx="8572500" cy="1151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ctr">
              <a:lnSpc>
                <a:spcPts val="2310"/>
              </a:lnSpc>
              <a:buFont typeface="Arial" panose="020B0604020202020204" pitchFamily="34" charset="0"/>
              <a:buChar char="•"/>
            </a:pPr>
            <a:r>
              <a:rPr lang="pt-BR" sz="1650" dirty="0">
                <a:solidFill>
                  <a:srgbClr val="90E0EF"/>
                </a:solidFill>
                <a:latin typeface="Lato"/>
              </a:rPr>
              <a:t>Guilherme Muniz Gomes RA: 24026572</a:t>
            </a:r>
          </a:p>
          <a:p>
            <a:pPr marL="285750" indent="-285750" algn="ctr">
              <a:lnSpc>
                <a:spcPts val="2310"/>
              </a:lnSpc>
              <a:buFont typeface="Arial" panose="020B0604020202020204" pitchFamily="34" charset="0"/>
              <a:buChar char="•"/>
            </a:pPr>
            <a:r>
              <a:rPr lang="pt-BR" sz="1650" dirty="0">
                <a:solidFill>
                  <a:srgbClr val="90E0EF"/>
                </a:solidFill>
                <a:latin typeface="Lato"/>
              </a:rPr>
              <a:t>Maria Eduarda Cabral Foloni: 24026502</a:t>
            </a:r>
          </a:p>
          <a:p>
            <a:pPr marL="285750" indent="-285750" algn="ctr">
              <a:lnSpc>
                <a:spcPts val="2310"/>
              </a:lnSpc>
              <a:buFont typeface="Arial" panose="020B0604020202020204" pitchFamily="34" charset="0"/>
              <a:buChar char="•"/>
            </a:pPr>
            <a:r>
              <a:rPr lang="pt-BR" sz="1650" b="0" i="0" u="none" dirty="0">
                <a:solidFill>
                  <a:srgbClr val="90E0EF"/>
                </a:solidFill>
                <a:latin typeface="Lato"/>
              </a:rPr>
              <a:t>Flavia da Costa Rodrigues Faria</a:t>
            </a:r>
            <a:r>
              <a:rPr lang="pt-BR" sz="1650" dirty="0">
                <a:solidFill>
                  <a:srgbClr val="90E0EF"/>
                </a:solidFill>
                <a:latin typeface="Lato"/>
              </a:rPr>
              <a:t> 20021548</a:t>
            </a:r>
          </a:p>
          <a:p>
            <a:pPr marL="285750" indent="-285750" algn="ctr">
              <a:lnSpc>
                <a:spcPts val="2310"/>
              </a:lnSpc>
              <a:buFont typeface="Arial" panose="020B0604020202020204" pitchFamily="34" charset="0"/>
              <a:buChar char="•"/>
            </a:pPr>
            <a:r>
              <a:rPr lang="pt-BR" sz="1650" dirty="0">
                <a:solidFill>
                  <a:srgbClr val="90E0EF"/>
                </a:solidFill>
                <a:latin typeface="Lato"/>
              </a:rPr>
              <a:t>Lucas Moreira de Godoy RA: 24026298</a:t>
            </a:r>
            <a:endParaRPr sz="1650" b="0" i="0" u="none" dirty="0">
              <a:solidFill>
                <a:srgbClr val="90E0EF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8586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4612"/>
            <a:ext cx="533400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14612"/>
            <a:ext cx="533400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Contexto &amp; Problema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09887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395662"/>
            <a:ext cx="498062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Desafios</a:t>
            </a:r>
            <a:r>
              <a:rPr sz="1650" b="0" i="0" u="none" dirty="0">
                <a:solidFill>
                  <a:schemeClr val="accent6"/>
                </a:solidFill>
                <a:latin typeface="Poppins SemiBold"/>
              </a:rPr>
              <a:t> do </a:t>
            </a:r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Treino</a:t>
            </a:r>
            <a:r>
              <a:rPr sz="1650" b="0" i="0" u="none" dirty="0">
                <a:solidFill>
                  <a:schemeClr val="accent6"/>
                </a:solidFill>
                <a:latin typeface="Poppins SemiBold"/>
              </a:rPr>
              <a:t> </a:t>
            </a:r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Tradicional</a:t>
            </a:r>
            <a:endParaRPr sz="1650" b="0" i="0" u="none" dirty="0">
              <a:solidFill>
                <a:schemeClr val="accent6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6775" y="382428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Treinos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repetitivos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tênis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com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lançadores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automáticos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sofrem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com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baixo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engajamento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falta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feedback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numérico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instantâneo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precisão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ausência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histórico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estruturado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para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medição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evolução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técnica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do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aluno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09887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1775" y="3395662"/>
            <a:ext cx="498062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accent6"/>
                </a:solidFill>
                <a:latin typeface="Poppins SemiBold"/>
              </a:rPr>
              <a:t>A Oportunidade de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82428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E2E8F0"/>
                </a:solidFill>
                <a:latin typeface="Lato"/>
              </a:rPr>
              <a:t>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transformação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treino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físico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em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uma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experiência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gamificada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acionada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por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painéis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IoT com LEDs,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inteligentes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telemetria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sincronizada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com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aplicativo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dashboard web para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técnicos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praticantes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6500"/>
            <a:ext cx="2583656" cy="2809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476500"/>
            <a:ext cx="2583656" cy="2809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76500"/>
            <a:ext cx="2583656" cy="2809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476500"/>
            <a:ext cx="2583656" cy="2809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Abordagem de Design Thinking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150" y="3324225"/>
            <a:ext cx="21927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Empatizar</a:t>
            </a:r>
            <a:endParaRPr sz="1650" b="0" i="0" u="none" dirty="0">
              <a:solidFill>
                <a:schemeClr val="accent6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9150" y="3752850"/>
            <a:ext cx="2088356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Entrevistas com treinadores, atletas amadores e gestores de academias para entender dores no processo de treino.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0931" y="3324225"/>
            <a:ext cx="21927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Definir</a:t>
            </a:r>
            <a:endParaRPr sz="1650" b="0" i="0" u="none" dirty="0">
              <a:solidFill>
                <a:schemeClr val="accent6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0931" y="3752850"/>
            <a:ext cx="2088356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Mapeamento do problema real: falta de métricas visuais e ludicidade no treino com máquinas lançadoras.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2712" y="3324225"/>
            <a:ext cx="21927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Idealizar</a:t>
            </a:r>
            <a:endParaRPr sz="1650" b="0" i="0" u="none" dirty="0">
              <a:solidFill>
                <a:schemeClr val="accent6"/>
              </a:solidFill>
              <a:latin typeface="Poppins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2712" y="3752850"/>
            <a:ext cx="2088356" cy="1255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Painel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leds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responsivos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integração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microcontrolada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(Arduino</a:t>
            </a:r>
            <a:r>
              <a:rPr lang="pt-BR" sz="1350" dirty="0">
                <a:solidFill>
                  <a:srgbClr val="E2E8F0"/>
                </a:solidFill>
                <a:latin typeface="Lato"/>
              </a:rPr>
              <a:t> com LDR e Led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)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aplicativo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gamificado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4493" y="3324225"/>
            <a:ext cx="219277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Prototipar</a:t>
            </a:r>
            <a:endParaRPr sz="1650" b="0" i="0" u="none" dirty="0">
              <a:solidFill>
                <a:schemeClr val="accent6"/>
              </a:solidFill>
              <a:latin typeface="Poppins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84493" y="3752850"/>
            <a:ext cx="2088356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Arquitetura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protótipo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IoT, API,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painel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físico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leds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/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sensores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dashboard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analítico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762250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0931" y="2762250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2" y="2762250"/>
            <a:ext cx="28575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4493" y="2762250"/>
            <a:ext cx="476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8400"/>
            <a:ext cx="5334000" cy="2886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Persona 1: Treinador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50" y="3648075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Objetivo: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Maximizar a retenção de alunos e ter dados objetivos para comprovar a evolução técnica.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305300"/>
            <a:ext cx="4838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Dores: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Anotação manual demorada de estatísticas, dificuldade em motivar alunos infanto-juvenis e amadores em treinos de repetição.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438400"/>
            <a:ext cx="5600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Necessidades</a:t>
            </a:r>
            <a:r>
              <a:rPr sz="1650" b="0" i="0" u="none" dirty="0">
                <a:solidFill>
                  <a:srgbClr val="90E0EF"/>
                </a:solidFill>
                <a:latin typeface="Poppins SemiBold"/>
              </a:rPr>
              <a:t> </a:t>
            </a:r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Principais</a:t>
            </a:r>
            <a:r>
              <a:rPr sz="1650" b="0" i="0" u="none" dirty="0">
                <a:solidFill>
                  <a:srgbClr val="90E0EF"/>
                </a:solidFill>
                <a:latin typeface="Poppins SemiBold"/>
              </a:rPr>
              <a:t>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68605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9875" y="2867025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Automação na coleta de acertos e controle de metas por sessão.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3295650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Editor web intuitivo para criar treinos customizados e sincronizar no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3981450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Relatórios de desempenho individuais e comparativos de evolução.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867025"/>
            <a:ext cx="2667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2755106"/>
            <a:ext cx="29803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Poppins SemiBold"/>
              </a:rPr>
              <a:t>Carlos Eduardo (42 anos)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3069431"/>
            <a:ext cx="2838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0E0EF"/>
                </a:solidFill>
                <a:latin typeface="Lato"/>
              </a:rPr>
              <a:t>Técnico Head de Tênis em Academia Premium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890837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319462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00526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533400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Persona 2: Atleta Amadora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50" y="377666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Objetivo: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Treinar sozinha de forma dinâmica, acompanhar métricas pelo celular e superar seus recordes pessoais.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433887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Dores: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Treinar com máquina comum é entediante; não sabe se está realmente acertando os alvos com a precisão ideal.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566987"/>
            <a:ext cx="56007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Necessidades</a:t>
            </a:r>
            <a:r>
              <a:rPr sz="1650" b="0" i="0" u="none" dirty="0">
                <a:solidFill>
                  <a:srgbClr val="90E0EF"/>
                </a:solidFill>
                <a:latin typeface="Poppins SemiBold"/>
              </a:rPr>
              <a:t> </a:t>
            </a:r>
            <a:r>
              <a:rPr sz="1650" b="0" i="0" u="none" dirty="0" err="1">
                <a:solidFill>
                  <a:schemeClr val="accent6"/>
                </a:solidFill>
                <a:latin typeface="Poppins SemiBold"/>
              </a:rPr>
              <a:t>Principais</a:t>
            </a:r>
            <a:r>
              <a:rPr sz="1650" b="0" i="0" u="none" dirty="0">
                <a:solidFill>
                  <a:srgbClr val="90E0EF"/>
                </a:solidFill>
                <a:latin typeface="Poppins SemiBold"/>
              </a:rPr>
              <a:t>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2814637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19875" y="2995612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E2E8F0"/>
                </a:solidFill>
                <a:latin typeface="Lato"/>
              </a:rPr>
              <a:t>Feedback visual (LEDs)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sonoro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imediato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cada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bola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acertada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3424237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Elementos de gamificação (pontos, fases, conquistas e níveis).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3852862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E2E8F0"/>
                </a:solidFill>
                <a:latin typeface="Lato"/>
              </a:rPr>
              <a:t>Histórico acessível via aplicativo móvel integrado ao smartwatch.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995612"/>
            <a:ext cx="2667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2883693"/>
            <a:ext cx="308038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Poppins SemiBold"/>
              </a:rPr>
              <a:t>Sofia Rossi (28 anos)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3198018"/>
            <a:ext cx="29337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0E0EF"/>
                </a:solidFill>
                <a:latin typeface="Lato"/>
              </a:rPr>
              <a:t>Praticante Amadora &amp; Executiva de Tecnologia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01942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448050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87667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328" y="1425764"/>
            <a:ext cx="2357995" cy="4223275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FFFFFF"/>
                </a:solidFill>
                <a:latin typeface="Poppins"/>
              </a:rPr>
              <a:t>A </a:t>
            </a:r>
            <a:r>
              <a:rPr sz="2550" b="1" i="0" u="none" dirty="0" err="1">
                <a:solidFill>
                  <a:srgbClr val="FFFFFF"/>
                </a:solidFill>
                <a:latin typeface="Poppins"/>
              </a:rPr>
              <a:t>Solução</a:t>
            </a:r>
            <a:r>
              <a:rPr sz="2550" b="1" i="0" u="none" dirty="0">
                <a:solidFill>
                  <a:srgbClr val="FFFFFF"/>
                </a:solidFill>
                <a:latin typeface="Poppins"/>
              </a:rPr>
              <a:t>: S</a:t>
            </a:r>
            <a:r>
              <a:rPr lang="pt-BR" sz="2550" b="1" dirty="0">
                <a:solidFill>
                  <a:srgbClr val="FFFFFF"/>
                </a:solidFill>
                <a:latin typeface="Poppins"/>
              </a:rPr>
              <a:t>core </a:t>
            </a:r>
            <a:r>
              <a:rPr lang="pt-BR" sz="2550" b="1" dirty="0" err="1">
                <a:solidFill>
                  <a:srgbClr val="FFFFFF"/>
                </a:solidFill>
                <a:latin typeface="Poppins"/>
              </a:rPr>
              <a:t>Smash</a:t>
            </a:r>
            <a:endParaRPr sz="255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4875" y="2071687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Painel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IoT com LEDs: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Estrutura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física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responsiva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com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sensores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impacto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LEDs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coloridos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situados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</a:t>
            </a:r>
            <a:r>
              <a:rPr lang="pt-BR" sz="1350" b="0" i="0" u="none" dirty="0">
                <a:solidFill>
                  <a:srgbClr val="E2E8F0"/>
                </a:solidFill>
                <a:latin typeface="Lato"/>
              </a:rPr>
              <a:t>o painel 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quadra.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757487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Sincronização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em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Tempo Real: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Microcontrolador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(Arduino)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envia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eventos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via API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passar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pela bola.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443287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E2E8F0"/>
                </a:solidFill>
                <a:latin typeface="Lato"/>
              </a:rPr>
              <a:t>Dashboard: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Apresenta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feedback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dinâmico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para 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atleta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consolida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telemetria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treino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no portal.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9550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1300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67100"/>
            <a:ext cx="142875" cy="200025"/>
          </a:xfrm>
          <a:prstGeom prst="rect">
            <a:avLst/>
          </a:prstGeom>
        </p:spPr>
      </p:pic>
      <p:pic>
        <p:nvPicPr>
          <p:cNvPr id="1026" name="Picture 2" descr="Imagem do Pin de história">
            <a:extLst>
              <a:ext uri="{FF2B5EF4-FFF2-40B4-BE49-F238E27FC236}">
                <a16:creationId xmlns:a16="http://schemas.microsoft.com/office/drawing/2014/main" id="{7BB68283-64FB-96B0-AF8D-B05904AB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8" y="1425764"/>
            <a:ext cx="2357995" cy="422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Mercado Potencial (TAM)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0137" y="3140868"/>
            <a:ext cx="427672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0B4D8"/>
                </a:solidFill>
                <a:latin typeface="Poppins"/>
              </a:rPr>
              <a:t>R$ 148,8 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212" y="3998118"/>
            <a:ext cx="30765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1" i="0" u="none">
                <a:solidFill>
                  <a:srgbClr val="90E0EF"/>
                </a:solidFill>
                <a:latin typeface="Lato"/>
              </a:rPr>
              <a:t>TAM (Total Addressable Market)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4407693"/>
            <a:ext cx="45148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 dirty="0" err="1">
                <a:solidFill>
                  <a:srgbClr val="778DA9"/>
                </a:solidFill>
                <a:latin typeface="Lato"/>
              </a:rPr>
              <a:t>Demanda</a:t>
            </a:r>
            <a:r>
              <a:rPr sz="1125" b="0" i="0" u="none" dirty="0">
                <a:solidFill>
                  <a:srgbClr val="778DA9"/>
                </a:solidFill>
                <a:latin typeface="Lato"/>
              </a:rPr>
              <a:t> </a:t>
            </a:r>
            <a:r>
              <a:rPr sz="1125" b="0" i="0" u="none" dirty="0" err="1">
                <a:solidFill>
                  <a:srgbClr val="778DA9"/>
                </a:solidFill>
                <a:latin typeface="Lato"/>
              </a:rPr>
              <a:t>potencial</a:t>
            </a:r>
            <a:r>
              <a:rPr sz="1125" b="0" i="0" u="none" dirty="0">
                <a:solidFill>
                  <a:srgbClr val="778DA9"/>
                </a:solidFill>
                <a:latin typeface="Lato"/>
              </a:rPr>
              <a:t> total no mercado </a:t>
            </a:r>
            <a:r>
              <a:rPr sz="1125" b="0" i="0" u="none" dirty="0" err="1">
                <a:solidFill>
                  <a:srgbClr val="778DA9"/>
                </a:solidFill>
                <a:latin typeface="Lato"/>
              </a:rPr>
              <a:t>brasileiro</a:t>
            </a:r>
            <a:r>
              <a:rPr sz="1125" b="0" i="0" u="none" dirty="0">
                <a:solidFill>
                  <a:srgbClr val="778DA9"/>
                </a:solidFill>
                <a:latin typeface="Lato"/>
              </a:rPr>
              <a:t> (Hardware + SaaS </a:t>
            </a:r>
            <a:r>
              <a:rPr sz="1125" b="0" i="0" u="none" dirty="0" err="1">
                <a:solidFill>
                  <a:srgbClr val="778DA9"/>
                </a:solidFill>
                <a:latin typeface="Lato"/>
              </a:rPr>
              <a:t>Anual</a:t>
            </a:r>
            <a:r>
              <a:rPr sz="1125" b="0" i="0" u="none" dirty="0">
                <a:solidFill>
                  <a:srgbClr val="778DA9"/>
                </a:solidFill>
                <a:latin typeface="Lato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767012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Composição do Cálculo: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19563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Base de Quadras: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~12.000 quadras de tênis ativas no Brasil (Clubes, Academias e Condomínios).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388143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Ticket Hardware (Painel IoT):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R$ 8.000,00 (Venda única do módulo de leds e sensores).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4567237"/>
            <a:ext cx="50006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SaaS Licenciamento: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R$ 4.400,00 / ano por quadra (R$ 366/mês).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19450"/>
            <a:ext cx="1428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905250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5910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Racional Metodológico do 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1162" y="2700337"/>
          <a:ext cx="8829675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Métrica / Segmento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Premissa / Dado Secundário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Valor Unitário / Projeção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0E1DD"/>
                          </a:solidFill>
                          <a:latin typeface="Lato"/>
                        </a:rPr>
                        <a:t>Praticantes de Tênis BR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Pesquisas CBT e ÁPICE Esportes (2024-2026)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~3,0 Milhões de Praticantes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0E1DD"/>
                          </a:solidFill>
                          <a:latin typeface="Lato"/>
                        </a:rPr>
                        <a:t>Clubes &amp; Academias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Mapeamento de redes (PlayTennis, FastTennis, Clubes)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~1.800 Estabelecimentos Físicos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0E1DD"/>
                          </a:solidFill>
                          <a:latin typeface="Lato"/>
                        </a:rPr>
                        <a:t>Quadras Comercializáveis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Média de 6,5 quadras por estabelecimento/clube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12.000 Quadras com Potencial IoT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0E1DD"/>
                          </a:solidFill>
                          <a:latin typeface="Lato"/>
                        </a:rPr>
                        <a:t>Faturamento Anual Potencial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12.000 quadras x R$ 12.400 (HW + 1º ano SaaS)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0E1DD"/>
                          </a:solidFill>
                          <a:latin typeface="Lato"/>
                        </a:rPr>
                        <a:t>R$ 148,8 Milhões (TAM Total)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81162" y="3219450"/>
            <a:ext cx="23145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95737" y="3219450"/>
            <a:ext cx="39147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10512" y="3219450"/>
            <a:ext cx="2600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1162" y="3676650"/>
            <a:ext cx="23145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95737" y="3676650"/>
            <a:ext cx="39147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10512" y="3676650"/>
            <a:ext cx="2600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81162" y="4133850"/>
            <a:ext cx="23145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95737" y="4133850"/>
            <a:ext cx="39147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10512" y="4133850"/>
            <a:ext cx="2600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81162" y="4591050"/>
            <a:ext cx="23145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95737" y="4591050"/>
            <a:ext cx="39147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10512" y="4591050"/>
            <a:ext cx="2600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81162" y="5048250"/>
            <a:ext cx="23145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95737" y="5048250"/>
            <a:ext cx="391477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10512" y="5048250"/>
            <a:ext cx="2600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352425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47925"/>
            <a:ext cx="3524250" cy="2867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47925"/>
            <a:ext cx="3524250" cy="2867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Análise do Cenário Concorrencial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3295650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Lançadoras Comerciais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24275"/>
            <a:ext cx="302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Spinshot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/ Lobster: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Excelentes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máquinas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lançadoras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porém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sem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integração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com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físicos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interativos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sem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ecossistema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gamificado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295650"/>
            <a:ext cx="318039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Apps de Visão Computacional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4038600"/>
            <a:ext cx="302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SwingVision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Rastreia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estatísticas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via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câmera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do iPhone, mas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carece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feedback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tátil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/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luminoso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instantâneo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na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quadra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interativos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295650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Método Tradicional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724275"/>
            <a:ext cx="302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E2E8F0"/>
                </a:solidFill>
                <a:latin typeface="Lato"/>
              </a:rPr>
              <a:t>Cones &amp; Papel:</a:t>
            </a:r>
            <a:r>
              <a:rPr sz="1350" b="0" i="0" u="none">
                <a:solidFill>
                  <a:srgbClr val="E2E8F0"/>
                </a:solidFill>
                <a:latin typeface="Lato"/>
              </a:rPr>
              <a:t> Prática atual com alvos estáticos e anotação manual em prancheta. Baixa precisão e sem retenção de dados históricos.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33675"/>
            <a:ext cx="47625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73367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33675"/>
            <a:ext cx="2857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7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Diferenciação Estratégica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197164"/>
              </p:ext>
            </p:extLst>
          </p:nvPr>
        </p:nvGraphicFramePr>
        <p:xfrm>
          <a:off x="1490662" y="2700337"/>
          <a:ext cx="9210675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Atributo de Solução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90E0EF"/>
                          </a:solidFill>
                          <a:latin typeface="Poppins"/>
                        </a:rPr>
                        <a:t>S</a:t>
                      </a:r>
                      <a:r>
                        <a:rPr lang="pt-BR" sz="1350" b="1" i="0" u="none" dirty="0">
                          <a:solidFill>
                            <a:srgbClr val="90E0EF"/>
                          </a:solidFill>
                          <a:latin typeface="Poppins"/>
                        </a:rPr>
                        <a:t>core </a:t>
                      </a:r>
                      <a:r>
                        <a:rPr lang="pt-BR" sz="1350" b="1" i="0" u="none" dirty="0" err="1">
                          <a:solidFill>
                            <a:srgbClr val="90E0EF"/>
                          </a:solidFill>
                          <a:latin typeface="Poppins"/>
                        </a:rPr>
                        <a:t>smash</a:t>
                      </a:r>
                      <a:endParaRPr sz="1350" b="1" i="0" u="none" dirty="0">
                        <a:solidFill>
                          <a:srgbClr val="90E0EF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Spinshot /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0E0EF"/>
                          </a:solidFill>
                          <a:latin typeface="Poppins"/>
                        </a:rPr>
                        <a:t>Método Tradicional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Feedback Luminoso/Sonoro no Alvo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Sim (LEDs/Sens)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Não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Não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Gamificação &amp; Níveis de Treino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Nativa</a:t>
                      </a:r>
                      <a:r>
                        <a:rPr sz="1200" b="0" i="0" u="none" dirty="0">
                          <a:solidFill>
                            <a:srgbClr val="E0E1DD"/>
                          </a:solidFill>
                          <a:latin typeface="Lato"/>
                        </a:rPr>
                        <a:t> e </a:t>
                      </a:r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Configurável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Parcial</a:t>
                      </a:r>
                      <a:r>
                        <a:rPr sz="1200" b="0" i="0" u="none" dirty="0">
                          <a:solidFill>
                            <a:srgbClr val="E0E1DD"/>
                          </a:solidFill>
                          <a:latin typeface="Lato"/>
                        </a:rPr>
                        <a:t> / </a:t>
                      </a:r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Básica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Inexistente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Integração via API &amp; Dashboard Web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Sim (Plataforma Mãe)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Fechada</a:t>
                      </a:r>
                      <a:r>
                        <a:rPr sz="1200" b="0" i="0" u="none" dirty="0">
                          <a:solidFill>
                            <a:srgbClr val="E0E1DD"/>
                          </a:solidFill>
                          <a:latin typeface="Lato"/>
                        </a:rPr>
                        <a:t> / </a:t>
                      </a:r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Proprietária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Não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Contabilização de Precisão por Sensores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0E1DD"/>
                          </a:solidFill>
                          <a:latin typeface="Lato"/>
                        </a:rPr>
                        <a:t>Automática / Real-Time</a:t>
                      </a: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Não</a:t>
                      </a:r>
                      <a:r>
                        <a:rPr sz="1200" b="0" i="0" u="none" dirty="0">
                          <a:solidFill>
                            <a:srgbClr val="E0E1DD"/>
                          </a:solidFill>
                          <a:latin typeface="La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possui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E0E1DD"/>
                          </a:solidFill>
                          <a:latin typeface="Lato"/>
                        </a:rPr>
                        <a:t>Manual / </a:t>
                      </a:r>
                      <a:r>
                        <a:rPr sz="1200" b="0" i="0" u="none" dirty="0" err="1">
                          <a:solidFill>
                            <a:srgbClr val="E0E1DD"/>
                          </a:solidFill>
                          <a:latin typeface="Lato"/>
                        </a:rPr>
                        <a:t>Estimada</a:t>
                      </a:r>
                      <a:endParaRPr sz="1200" b="0" i="0" u="none" dirty="0">
                        <a:solidFill>
                          <a:srgbClr val="E0E1DD"/>
                        </a:solidFill>
                        <a:latin typeface="Lato"/>
                      </a:endParaRPr>
                    </a:p>
                  </a:txBody>
                  <a:tcPr marL="2667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90662" y="3219450"/>
            <a:ext cx="2981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71987" y="3219450"/>
            <a:ext cx="21336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05587" y="3219450"/>
            <a:ext cx="19812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86787" y="3219450"/>
            <a:ext cx="211455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90662" y="3676650"/>
            <a:ext cx="2981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71987" y="3676650"/>
            <a:ext cx="21336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05587" y="3676650"/>
            <a:ext cx="19812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86787" y="3676650"/>
            <a:ext cx="211455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90662" y="4133850"/>
            <a:ext cx="2981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71987" y="4133850"/>
            <a:ext cx="21336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05587" y="4133850"/>
            <a:ext cx="19812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86787" y="4133850"/>
            <a:ext cx="211455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90662" y="4591050"/>
            <a:ext cx="2981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71987" y="4591050"/>
            <a:ext cx="21336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05587" y="4591050"/>
            <a:ext cx="19812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86787" y="4591050"/>
            <a:ext cx="211455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90662" y="5048250"/>
            <a:ext cx="2981325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71987" y="5048250"/>
            <a:ext cx="21336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05587" y="5048250"/>
            <a:ext cx="198120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86787" y="5048250"/>
            <a:ext cx="2114550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37" y="3367088"/>
            <a:ext cx="1524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77" y="3336132"/>
            <a:ext cx="15240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233" y="3341077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77" y="3813357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637" y="3832347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730" y="3793148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77" y="4250532"/>
            <a:ext cx="1524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37" y="4289547"/>
            <a:ext cx="15240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233" y="4281488"/>
            <a:ext cx="1524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967" y="4728187"/>
            <a:ext cx="15240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37" y="4762499"/>
            <a:ext cx="152400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233" y="474674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27" y="1992618"/>
            <a:ext cx="5025190" cy="340995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Arquitetura Integrada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86500" y="2071687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Componentes Tecnológicos: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500312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Módulo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IoT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Embarcado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Arduino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lendo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sensores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alvo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acionando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LEDs/Buzzer.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186112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Protocolos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1" i="0" u="none" dirty="0" err="1">
                <a:solidFill>
                  <a:srgbClr val="E2E8F0"/>
                </a:solidFill>
                <a:latin typeface="Lato"/>
              </a:rPr>
              <a:t>Comunicação</a:t>
            </a:r>
            <a:r>
              <a:rPr sz="1350" b="1" i="0" u="none" dirty="0">
                <a:solidFill>
                  <a:srgbClr val="E2E8F0"/>
                </a:solidFill>
                <a:latin typeface="Lato"/>
              </a:rPr>
              <a:t>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 HTTP REST para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envio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telemetria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à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3871912"/>
            <a:ext cx="500062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E2E8F0"/>
                </a:solidFill>
                <a:latin typeface="Lato"/>
              </a:rPr>
              <a:t>Backend &amp; API REST: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Gestão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treinos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,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usuários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e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resultados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u="none" dirty="0" err="1">
                <a:solidFill>
                  <a:srgbClr val="E2E8F0"/>
                </a:solidFill>
                <a:latin typeface="Lato"/>
              </a:rPr>
              <a:t>sincronizados</a:t>
            </a:r>
            <a:r>
              <a:rPr sz="1350" b="0" i="0" u="none" dirty="0">
                <a:solidFill>
                  <a:srgbClr val="E2E8F0"/>
                </a:solidFill>
                <a:latin typeface="Lato"/>
              </a:rPr>
              <a:t> no SQL.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2412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895725"/>
            <a:ext cx="171450" cy="20002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7257E46-D351-525B-6C7E-801BB1C2F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82" y="1995487"/>
            <a:ext cx="5016735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829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Lato</vt:lpstr>
      <vt:lpstr>Poppins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Guilherme Muniz Gomes</cp:lastModifiedBy>
  <cp:revision>3</cp:revision>
  <dcterms:created xsi:type="dcterms:W3CDTF">2013-01-27T09:14:16Z</dcterms:created>
  <dcterms:modified xsi:type="dcterms:W3CDTF">2026-09-16T23:48:29Z</dcterms:modified>
  <cp:category/>
</cp:coreProperties>
</file>